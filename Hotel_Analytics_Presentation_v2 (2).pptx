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Month-wise Booking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 Count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5EB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5716</c:v>
                </c:pt>
                <c:pt idx="1">
                  <c:v>45129</c:v>
                </c:pt>
                <c:pt idx="2">
                  <c:v>44578</c:v>
                </c:pt>
                <c:pt idx="3">
                  <c:v>39167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Month-wise Revenue (₹)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71613369</c:v>
                </c:pt>
                <c:pt idx="1">
                  <c:v>573219265</c:v>
                </c:pt>
                <c:pt idx="2">
                  <c:v>564754400</c:v>
                </c:pt>
                <c:pt idx="3">
                  <c:v>499184195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Booking Count by Room Class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8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Elite</c:v>
                  </c:pt>
                  <c:pt idx="1">
                    <c:v>Standard</c:v>
                  </c:pt>
                  <c:pt idx="2">
                    <c:v>Premium</c:v>
                  </c:pt>
                  <c:pt idx="3">
                    <c:v>Presidential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49505</c:v>
                </c:pt>
                <c:pt idx="1">
                  <c:v>38446</c:v>
                </c:pt>
                <c:pt idx="2">
                  <c:v>30566</c:v>
                </c:pt>
                <c:pt idx="3">
                  <c:v>16073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24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Revenue Share by Room Class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bubble3D val="0"/>
            <c:spPr>
              <a:solidFill>
                <a:srgbClr val="F5C842"/>
              </a:solidFill>
              <a:effectLst/>
            </c:spPr>
          </c:dPt>
          <c:dPt>
            <c:idx val="2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Elite</c:v>
                </c:pt>
                <c:pt idx="1">
                  <c:v>Premium</c:v>
                </c:pt>
                <c:pt idx="2">
                  <c:v>Presidential</c:v>
                </c:pt>
                <c:pt idx="3">
                  <c:v>Standard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560271200</c:v>
                </c:pt>
                <c:pt idx="1">
                  <c:v>462166300</c:v>
                </c:pt>
                <c:pt idx="2">
                  <c:v>376752700</c:v>
                </c:pt>
                <c:pt idx="3">
                  <c:v>309580800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15224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Total Revenue by Hotel Property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5EB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C84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Atliq Bay</c:v>
                  </c:pt>
                  <c:pt idx="1">
                    <c:v>Atliq Blu</c:v>
                  </c:pt>
                  <c:pt idx="2">
                    <c:v>Atliq City</c:v>
                  </c:pt>
                  <c:pt idx="3">
                    <c:v>Atliq Exotica</c:v>
                  </c:pt>
                  <c:pt idx="4">
                    <c:v>Atliq Grands</c:v>
                  </c:pt>
                  <c:pt idx="5">
                    <c:v>Atliq Palace</c:v>
                  </c:pt>
                  <c:pt idx="6">
                    <c:v>Atliq Seasons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260051000</c:v>
                </c:pt>
                <c:pt idx="1">
                  <c:v>260855000</c:v>
                </c:pt>
                <c:pt idx="2">
                  <c:v>285811000</c:v>
                </c:pt>
                <c:pt idx="3">
                  <c:v>320312000</c:v>
                </c:pt>
                <c:pt idx="4">
                  <c:v>211532000</c:v>
                </c:pt>
                <c:pt idx="5">
                  <c:v>304081000</c:v>
                </c:pt>
                <c:pt idx="6">
                  <c:v>66125000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Booking Status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C842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Checked Out (70.15%)</c:v>
                </c:pt>
                <c:pt idx="1">
                  <c:v>Cancelled (24.83%)</c:v>
                </c:pt>
                <c:pt idx="2">
                  <c:v>No Show (5.02%)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70.15</c:v>
                </c:pt>
                <c:pt idx="1">
                  <c:v>24.83</c:v>
                </c:pt>
                <c:pt idx="2">
                  <c:v>5.02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52244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Avg Guest Rating by Hotel (out of 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Atliq Exotica</c:v>
                  </c:pt>
                  <c:pt idx="1">
                    <c:v>Atliq Bay</c:v>
                  </c:pt>
                  <c:pt idx="2">
                    <c:v>Atliq Blu</c:v>
                  </c:pt>
                  <c:pt idx="3">
                    <c:v>Atliq City</c:v>
                  </c:pt>
                  <c:pt idx="4">
                    <c:v>Atliq Palace</c:v>
                  </c:pt>
                  <c:pt idx="5">
                    <c:v>Atliq Grands</c:v>
                  </c:pt>
                  <c:pt idx="6">
                    <c:v>Atliq Seasons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2.8</c:v>
                </c:pt>
                <c:pt idx="1">
                  <c:v>2.7</c:v>
                </c:pt>
                <c:pt idx="2">
                  <c:v>2.7</c:v>
                </c:pt>
                <c:pt idx="3">
                  <c:v>2.7</c:v>
                </c:pt>
                <c:pt idx="4">
                  <c:v>2.7</c:v>
                </c:pt>
                <c:pt idx="5">
                  <c:v>1.8</c:v>
                </c:pt>
                <c:pt idx="6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2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097280"/>
            <a:ext cx="1371600" cy="731520"/>
          </a:xfrm>
          <a:prstGeom prst="rect">
            <a:avLst/>
          </a:prstGeom>
          <a:solidFill>
            <a:srgbClr val="3A5EBA"/>
          </a:solidFill>
          <a:ln w="12700">
            <a:solidFill>
              <a:srgbClr val="3A5E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926080"/>
            <a:ext cx="365760" cy="365760"/>
          </a:xfrm>
          <a:prstGeom prst="ellipse">
            <a:avLst/>
          </a:prstGeom>
          <a:solidFill>
            <a:srgbClr val="4FC3F7">
              <a:alpha val="6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291840"/>
            <a:ext cx="548640" cy="548640"/>
          </a:xfrm>
          <a:prstGeom prst="ellipse">
            <a:avLst/>
          </a:prstGeom>
          <a:solidFill>
            <a:srgbClr val="F5C842">
              <a:alpha val="5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2834640"/>
            <a:ext cx="320040" cy="320040"/>
          </a:xfrm>
          <a:prstGeom prst="ellipse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FC3F7"/>
                </a:solidFill>
              </a:rPr>
              <a:t>HOTEL INDUSTRY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Project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End-to-End Data Analytics: SQL  •  Excel  •  Tableau  •  Power BI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5262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Hospitality Revenue Intelligence  •  7 Properties (Atliq Hotels)  •  4 Cities  •  Apr–Jul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C3F7"/>
                </a:solidFill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Analyze hotel bookings data across 7 Atliq properties in 4 Indian cities — Bangalore, Delhi, Mumbai &amp; Hyderabad — to uncover revenue trends, occupancy patterns, and operational insights.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8346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69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C3F7"/>
                </a:solidFill>
              </a:rPr>
              <a:t>SCOPE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572768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4-month dataset (Apr–Jul) covering 134,590 bookings, ₹1.7B+ revenue realized, 232,576 total capacity, guest ratings per hotel, and 7 booking platforms.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8346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69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C3F7"/>
                </a:solidFill>
              </a:rPr>
              <a:t>DELIVERABLES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572768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Star-schema MySQL database with 38 SQL queries, a dynamic Excel KPI dashboard with slicers, and an interactive Tableau .twbx visualization for stakeholders.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DATA ARCHITECTURE  —  Star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1280160"/>
            <a:ext cx="292608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fact_bookings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6733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booking_id · property_id · room_category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booking_date · check_in · checkout_date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revenue_realized · ratings_given ·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2971800"/>
            <a:ext cx="292608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3017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fact_aggregated_bookings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33649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property_id · room_category · check_in_date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capacity · successful_bookings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645920"/>
            <a:ext cx="2651760" cy="868680"/>
          </a:xfrm>
          <a:prstGeom prst="rect">
            <a:avLst/>
          </a:prstGeom>
          <a:solidFill>
            <a:srgbClr val="3A5EBA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dim_hotels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property_id · property_name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city · category (Luxury/Business)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3017520"/>
            <a:ext cx="2651760" cy="822960"/>
          </a:xfrm>
          <a:prstGeom prst="rect">
            <a:avLst/>
          </a:prstGeom>
          <a:solidFill>
            <a:srgbClr val="3A5EBA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dim_rooms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364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room_id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room_class (Elite/Premium/Presidential/Standard)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2651760" cy="868680"/>
          </a:xfrm>
          <a:prstGeom prst="rect">
            <a:avLst/>
          </a:prstGeom>
          <a:solidFill>
            <a:srgbClr val="3A5EBA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date · week_no · 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day_type (Weekday / Weekend)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34640" y="1965960"/>
            <a:ext cx="36576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834640" y="3337560"/>
            <a:ext cx="365760" cy="0"/>
          </a:xfrm>
          <a:prstGeom prst="line">
            <a:avLst/>
          </a:prstGeom>
          <a:noFill/>
          <a:ln w="19050">
            <a:solidFill>
              <a:srgbClr val="F5C84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126480" y="1828800"/>
            <a:ext cx="18288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5 Tables  ·  Star Schema  ·  MySQL  ·  Date columns converted via STR_TO_DATE()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SQL ANALYSIS HIGHLIGHTS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600200"/>
          </a:xfrm>
          <a:prstGeom prst="rect">
            <a:avLst/>
          </a:prstGeom>
          <a:solidFill>
            <a:srgbClr val="3A5EBA">
              <a:alpha val="8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C842"/>
                </a:solidFill>
              </a:rPr>
              <a:t>38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55448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 Queries Written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7190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Revenue, Occupancy, ADR, RevPAR, Cancellation %, Ratings, LOS, Booking 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14800" cy="1600200"/>
          </a:xfrm>
          <a:prstGeom prst="rect">
            <a:avLst/>
          </a:prstGeom>
          <a:solidFill>
            <a:srgbClr val="3A5EBA">
              <a:alpha val="8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C842"/>
                </a:solidFill>
              </a:rPr>
              <a:t>5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504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Tables / Joins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17190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Star schema joins across 2 fact tables and 3 dimension 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600200"/>
          </a:xfrm>
          <a:prstGeom prst="rect">
            <a:avLst/>
          </a:prstGeom>
          <a:solidFill>
            <a:srgbClr val="3A5EBA">
              <a:alpha val="8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54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C842"/>
                </a:solidFill>
              </a:rPr>
              <a:t>10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KPIs Computed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639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Revenue, Occupancy, ADR, RevPAR, DSRN, DBRN, DURN, Realisation %, LOS, Ratings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017520"/>
            <a:ext cx="4114800" cy="1600200"/>
          </a:xfrm>
          <a:prstGeom prst="rect">
            <a:avLst/>
          </a:prstGeom>
          <a:solidFill>
            <a:srgbClr val="3A5EBA">
              <a:alpha val="80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154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C842"/>
                </a:solidFill>
              </a:rPr>
              <a:t>7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03504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Trend Dimensions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3639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City · Hotel · Month · Week · Day Type · Platform · Room Class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Key SQL Techniques: STR_TO_DATE  ·  WINDOW FUNCTIONS (OVER/PARTITION)  ·  DATEDIFF  ·  GROUP BY  ·  IF()  ·  Subqueries  ·  ALTER / UPDATE DDL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KEY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16002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789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58%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7190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Occupancy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47672" y="96012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47672" y="960120"/>
            <a:ext cx="1600200" cy="64008"/>
          </a:xfrm>
          <a:prstGeom prst="rect">
            <a:avLst/>
          </a:prstGeom>
          <a:solidFill>
            <a:srgbClr val="3A5EBA"/>
          </a:solidFill>
          <a:ln w="12700">
            <a:solidFill>
              <a:srgbClr val="3A5E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10789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EBA"/>
                </a:solidFill>
              </a:rPr>
              <a:t>₹1,708,771,229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93392" y="17190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12464" y="96012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2464" y="960120"/>
            <a:ext cx="16002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10789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1,34,590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58184" y="17190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Bookings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77256" y="96012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77256" y="960120"/>
            <a:ext cx="1600200" cy="64008"/>
          </a:xfrm>
          <a:prstGeom prst="rect">
            <a:avLst/>
          </a:prstGeom>
          <a:solidFill>
            <a:srgbClr val="3A5EBA"/>
          </a:solidFill>
          <a:ln w="12700">
            <a:solidFill>
              <a:srgbClr val="3A5E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10789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EBA"/>
                </a:solidFill>
              </a:rPr>
              <a:t>2,32,576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22976" y="17190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Capacity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42048" y="96012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42048" y="960120"/>
            <a:ext cx="160020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10789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</a:rPr>
              <a:t>₹14,916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87768" y="17190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Daily 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5146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514600"/>
            <a:ext cx="16002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42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28600" y="32735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Daily Booked Room Night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47672" y="25146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947672" y="2514600"/>
            <a:ext cx="1600200" cy="64008"/>
          </a:xfrm>
          <a:prstGeom prst="rect">
            <a:avLst/>
          </a:prstGeom>
          <a:solidFill>
            <a:srgbClr val="3A5EBA"/>
          </a:solidFill>
          <a:ln w="12700">
            <a:solidFill>
              <a:srgbClr val="3A5E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47672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5EBA"/>
                </a:solidFill>
              </a:rPr>
              <a:t>73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993392" y="32735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Daily Sellable Room Night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12464" y="25146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12464" y="2514600"/>
            <a:ext cx="160020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803D"/>
                </a:solidFill>
              </a:rPr>
              <a:t>42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3758184" y="32735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Daily Utilized Room Night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77256" y="25146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77256" y="2514600"/>
            <a:ext cx="1600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77256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2.4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522976" y="32735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Length of Stay (days)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42048" y="25146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42048" y="2514600"/>
            <a:ext cx="1600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2048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₹8,632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87768" y="32735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Per Available Room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406908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82880" y="4069080"/>
            <a:ext cx="160020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4160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33,420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228600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Cancelled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947672" y="406908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947672" y="4069080"/>
            <a:ext cx="1600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47672" y="4160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94,411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993392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Checked Out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12464" y="406908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712464" y="4069080"/>
            <a:ext cx="1600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12464" y="4160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6,759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3758184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Show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77256" y="406908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477256" y="4069080"/>
            <a:ext cx="160020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77256" y="4160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25%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5522976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Cancel Rate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42048" y="406908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242048" y="4069080"/>
            <a:ext cx="1600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42048" y="4160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5%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7287768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Show Rate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MONTH-WISE BOOKING &amp; REVENUE TRENDS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96012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Apr has very low data (partial month)  ·  May is peak month  ·  Revenue &amp; bookings decline steadily May → Jul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ROOM CLASS ANALYSIS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96012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Elite rooms dominate both bookings (36.8%) &amp; revenue  ·  Presidential has lowest demand  ·  Standard has lowest revenue despite high bookings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HOTEL-WISE REVENUE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8595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Atliq Exotica leads  ·  Atliq Palace 2nd  ·  Atliq Seasons significantly underperforms (budget segment)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BOOKING STATUS &amp; HOTEL RATINGS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3840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480560" y="91440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Overall ratings are low (1.6–2.8 / 5)  ·  Atliq Seasons &amp; Grands need urgent service quality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ADVANCED HOSPITALITY KPIs  —  Formulas &amp; Values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ADR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EBA"/>
                </a:solidFill>
              </a:rPr>
              <a:t>₹14,916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" y="190195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Formula: Revenue ÷ Total Bookings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" y="22402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Revenue generated per booked room night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95728" y="960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96012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RevPAR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95728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EBA"/>
                </a:solidFill>
              </a:rPr>
              <a:t>₹8,632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190195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Formula: Revenue ÷ Total Available Rooms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8880" y="22402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Reflects both occupancy efficiency and pricing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08576" y="960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96012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Occ%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08576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EBA"/>
                </a:solidFill>
              </a:rPr>
              <a:t>58%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81728" y="190195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Formula: Successful Bookings ÷ Capacity × 100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81728" y="22402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58 out of every 100 available rooms were booked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21424" y="960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96012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DSRN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21424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EBA"/>
                </a:solidFill>
              </a:rPr>
              <a:t>73 / day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94576" y="190195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Formula: Total Capacity ÷ No. of Days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94576" y="224028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Average rooms available for sale each day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9718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297180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DBRN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8288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EBA"/>
                </a:solidFill>
              </a:rPr>
              <a:t>42 / day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56032" y="391363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Formula: Total Bookings ÷ No. of Days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6032" y="42519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Average rooms booked each day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95728" y="29718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395728" y="297180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95728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DURN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2395728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EBA"/>
                </a:solidFill>
              </a:rPr>
              <a:t>42 / day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468880" y="391363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Formula: Checkouts ÷ No. of Days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68880" y="42519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Rooms actually stayed in per day (excl. cancellations)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08576" y="29718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08576" y="297180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08576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Real%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608576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EBA"/>
                </a:solidFill>
              </a:rPr>
              <a:t>70%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681728" y="391363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Formula: 1 − (Cancel% + NoShow%)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81728" y="42519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70% of all bookings converted to actual stays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21424" y="29718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21424" y="297180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21424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LOS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6821424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5EBA"/>
                </a:solidFill>
              </a:rPr>
              <a:t>2.4 days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894576" y="391363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Formula: AVG(DATEDIFF checkout, checkin)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94576" y="42519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</a:rPr>
              <a:t>Guests stay on average 2.4 nights per visit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EXCEL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3A5EBA">
              <a:alpha val="75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10 KPI Metric Tiles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Occupancy, Revenue, Total Bookings, Capacity, ADR, DBRN, DSRN, DURN, Avg LOS, RevPAR — all live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143000"/>
          </a:xfrm>
          <a:prstGeom prst="rect">
            <a:avLst/>
          </a:prstGeom>
          <a:solidFill>
            <a:srgbClr val="3A5EBA">
              <a:alpha val="75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972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 Month-wise Booking Count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4813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Bar chart: Apr 5,716 → May 45,129 → Jun 44,578 → Jul 39,167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4114800" cy="1143000"/>
          </a:xfrm>
          <a:prstGeom prst="rect">
            <a:avLst/>
          </a:prstGeom>
          <a:solidFill>
            <a:srgbClr val="3A5EBA">
              <a:alpha val="75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3957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Month-wise Revenue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Line chart: Apr ₹71.6M → May ₹573.2M → Jun ₹564.8M → Jul ₹499.2M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04288"/>
            <a:ext cx="4114800" cy="1143000"/>
          </a:xfrm>
          <a:prstGeom prst="rect">
            <a:avLst/>
          </a:prstGeom>
          <a:solidFill>
            <a:srgbClr val="3A5EBA">
              <a:alpha val="75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3957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🏨  Hotel-wise Revenue Bars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7797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7-property comparison — Atliq Exotica leads at ₹320M, Atliq Seasons lowest at ₹66M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02736"/>
            <a:ext cx="4114800" cy="1143000"/>
          </a:xfrm>
          <a:prstGeom prst="rect">
            <a:avLst/>
          </a:prstGeom>
          <a:solidFill>
            <a:srgbClr val="3A5EBA">
              <a:alpha val="75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6941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🛏️  Room Class Booking &amp; Revenue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07822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Elite dominates both bookings (49,505) and revenue (₹560M)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602736"/>
            <a:ext cx="4114800" cy="1143000"/>
          </a:xfrm>
          <a:prstGeom prst="rect">
            <a:avLst/>
          </a:prstGeom>
          <a:solidFill>
            <a:srgbClr val="3A5EBA">
              <a:alpha val="75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6941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⭐  Avg Rating Donut per Hotel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07822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Ratings 1.6 (Atliq Seasons) to 2.8 (Atliq Exotica) — all below 3!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823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Interactive Slicers: Month (May / Jun / Jul)  ·  Room Class (Elite / Premium / Presidential)  ·  Day Type (Weekday / Weekend)  ·  City (Bangalore / Delhi / …)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TABLEAU DASHBOARD  (.twbx)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115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62763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KPI tiles: Revenue ₹1.71B · Occupancy 58% · ADR ₹14,916 · RevPAR ₹8,632 · Realisation 70%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05840"/>
            <a:ext cx="2743200" cy="64008"/>
          </a:xfrm>
          <a:prstGeom prst="rect">
            <a:avLst/>
          </a:prstGeom>
          <a:solidFill>
            <a:srgbClr val="3A5EBA"/>
          </a:solidFill>
          <a:ln w="12700">
            <a:solidFill>
              <a:srgbClr val="3A5E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115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EBA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9896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Month-wise Revenue Trend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82696" y="162763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Line chart Apr→Jul with tooltip showing hotel-level drill-down per data point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005840"/>
            <a:ext cx="274320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115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84264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Booking Status 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162763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Donut chart: Checked Out 70.15% · Cancelled 24.83% · No Show 5.02% with count labels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71800"/>
            <a:ext cx="274320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081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42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5528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Room Class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" y="359359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Side-by-side bar — booking count &amp; revenue for Elite, Premium, Presidential, Standard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971800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3081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39896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Hotel Scorecard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82696" y="359359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7-property bar chart comparing revenue — Atliq Exotica top, Atliq Seasons lowest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17336" y="29718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297180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3081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684264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Rating Analysis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27064" y="359359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Donut breakdown of avg ratings per hotel with overall low performance flag (all &lt; 3)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Built with .twbx  ·  Calculated Fields  ·  Parameters  ·  LOD Expressions  ·  Dashboard Actions &amp; Filters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KEY INSIGHTS &amp;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76072"/>
          </a:xfrm>
          <a:prstGeom prst="rect">
            <a:avLst/>
          </a:prstGeom>
          <a:solidFill>
            <a:srgbClr val="3A5EBA">
              <a:alpha val="65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73152" cy="5760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C3F7"/>
                </a:solidFill>
              </a:rPr>
              <a:t>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2435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Cancellation rate of 24.83% (33,420 bookings) is very high — significant revenue is being lost at the point of booking.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55064"/>
            <a:ext cx="8412480" cy="576072"/>
          </a:xfrm>
          <a:prstGeom prst="rect">
            <a:avLst/>
          </a:prstGeom>
          <a:solidFill>
            <a:srgbClr val="3A5EBA">
              <a:alpha val="65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55064"/>
            <a:ext cx="73152" cy="5760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00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C3F7"/>
                </a:solidFill>
              </a:rPr>
              <a:t>INSIGHT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911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All hotel ratings are below 3/5 — the best is Atliq Exotica at 2.8. Guest satisfaction is a company-wide concern.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22576"/>
            <a:ext cx="8412480" cy="576072"/>
          </a:xfrm>
          <a:prstGeom prst="rect">
            <a:avLst/>
          </a:prstGeom>
          <a:solidFill>
            <a:srgbClr val="3A5EBA">
              <a:alpha val="65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22576"/>
            <a:ext cx="73152" cy="5760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682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C3F7"/>
                </a:solidFill>
              </a:rPr>
              <a:t>INSIGHT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2578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Atliq Seasons drastically underperforms (₹66M revenue vs ₹320M for Atliq Exotica) — nearly 5x gap within same chain.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8412480" cy="576072"/>
          </a:xfrm>
          <a:prstGeom prst="rect">
            <a:avLst/>
          </a:prstGeom>
          <a:solidFill>
            <a:srgbClr val="3A5EBA">
              <a:alpha val="65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90088"/>
            <a:ext cx="73152" cy="5760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35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FC3F7"/>
                </a:solidFill>
              </a:rPr>
              <a:t>INSIGHT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Elite room class generates highest revenue (₹560M) yet Presidential rooms have very low bookings despite premium pricing.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8412480" cy="576072"/>
          </a:xfrm>
          <a:prstGeom prst="rect">
            <a:avLst/>
          </a:prstGeom>
          <a:solidFill>
            <a:srgbClr val="3A5EBA">
              <a:alpha val="65000"/>
            </a:srgbClr>
          </a:solidFill>
          <a:ln w="12700">
            <a:solidFill>
              <a:srgbClr val="F5C84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57600"/>
            <a:ext cx="73152" cy="5760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C842"/>
                </a:solidFill>
              </a:rPr>
              <a:t>ACTION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3913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Implement a non-refundable rate plan or cancellation fee policy to recover revenue from the 25% cancellation rate.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325112"/>
            <a:ext cx="8412480" cy="576072"/>
          </a:xfrm>
          <a:prstGeom prst="rect">
            <a:avLst/>
          </a:prstGeom>
          <a:solidFill>
            <a:srgbClr val="3A5EBA">
              <a:alpha val="65000"/>
            </a:srgbClr>
          </a:solidFill>
          <a:ln w="12700">
            <a:solidFill>
              <a:srgbClr val="F5C84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325112"/>
            <a:ext cx="73152" cy="5760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70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C842"/>
                </a:solidFill>
              </a:rPr>
              <a:t>ACTION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45811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Launch a guest experience program at Atliq Seasons &amp; Atliq Grands — low ratings (1.6 &amp; 1.8) are destroying brand trust.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TOOLS &amp;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91440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1920240" cy="1170432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MySQL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Database &amp; SQL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078992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Database schema design, DDL (ALTER/UPDATE), date type conversions using STR_TO_DATE, 38 analytical queries including joins, aggregations, window functions, and conditional logic.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20240"/>
            <a:ext cx="91440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20240"/>
            <a:ext cx="1920240" cy="1170432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Microsoft Excel (.xlsm)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 &amp;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084832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Dynamic KPI dashboard with 10 metric tiles, pivot charts (bar, line, donut), month/room class/hotel/rating analysis, and interactive slicers for month, city, room class, day type.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91440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26080"/>
            <a:ext cx="1920240" cy="1170432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Tableau (.twbx)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4564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Visualization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090672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Interactive packaged workbook with KPI summary, monthly revenue trends, booking status distribution, room class comparison, hotel scorecard, and rating analysis views.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93192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931920"/>
            <a:ext cx="91440" cy="1170432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31920"/>
            <a:ext cx="1920240" cy="1170432"/>
          </a:xfrm>
          <a:prstGeom prst="rect">
            <a:avLst/>
          </a:prstGeom>
          <a:solidFill>
            <a:srgbClr val="E8A800">
              <a:alpha val="12000"/>
            </a:srgbClr>
          </a:solidFill>
          <a:ln w="12700">
            <a:solidFill>
              <a:srgbClr val="E8A800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41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00"/>
                </a:solidFill>
              </a:rPr>
              <a:t>Power BI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4462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Business Intelligence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4096512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Interactive BI reports with DAX measures, dynamic visuals, drill-through pages, and shareable dashboards for revenue, occupancy, booking trends, and hotel-level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594360"/>
            <a:ext cx="2011680" cy="2011680"/>
          </a:xfrm>
          <a:prstGeom prst="ellipse">
            <a:avLst/>
          </a:prstGeom>
          <a:solidFill>
            <a:srgbClr val="4FC3F7">
              <a:alpha val="18000"/>
            </a:srgbClr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4FC3F7"/>
                </a:solidFill>
              </a:rPr>
              <a:t>PROJECT COMPLETE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1828800" cy="1600200"/>
          </a:xfrm>
          <a:prstGeom prst="rect">
            <a:avLst/>
          </a:prstGeom>
          <a:solidFill>
            <a:srgbClr val="3A5EBA">
              <a:alpha val="80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7249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</a:rPr>
              <a:t>₹1.71B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Revenue Analyzed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1828800" cy="1600200"/>
          </a:xfrm>
          <a:prstGeom prst="rect">
            <a:avLst/>
          </a:prstGeom>
          <a:solidFill>
            <a:srgbClr val="3A5EBA">
              <a:alpha val="80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27249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</a:rPr>
              <a:t>1,34,590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Bookings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606040"/>
            <a:ext cx="1828800" cy="1600200"/>
          </a:xfrm>
          <a:prstGeom prst="rect">
            <a:avLst/>
          </a:prstGeom>
          <a:solidFill>
            <a:srgbClr val="3A5EBA">
              <a:alpha val="80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7249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</a:rPr>
              <a:t>38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0060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SQL Queries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2606040"/>
            <a:ext cx="1828800" cy="1600200"/>
          </a:xfrm>
          <a:prstGeom prst="rect">
            <a:avLst/>
          </a:prstGeom>
          <a:solidFill>
            <a:srgbClr val="3A5EBA">
              <a:alpha val="80000"/>
            </a:srgbClr>
          </a:solidFill>
          <a:ln w="12700">
            <a:solidFill>
              <a:srgbClr val="4FC3F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272491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3456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Tools Used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Atliq Hotels Analytics  ·  MySQL  ·  Excel  ·  Tableau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Analytics Project</dc:title>
  <dc:subject>PptxGenJS Presentation</dc:subject>
  <dc:creator>PptxGenJS</dc:creator>
  <cp:lastModifiedBy>PptxGenJS</cp:lastModifiedBy>
  <cp:revision>1</cp:revision>
  <dcterms:created xsi:type="dcterms:W3CDTF">2026-02-20T02:59:46Z</dcterms:created>
  <dcterms:modified xsi:type="dcterms:W3CDTF">2026-02-20T02:59:46Z</dcterms:modified>
</cp:coreProperties>
</file>